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3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879681"/>
                </a:solidFill>
                <a:latin typeface="Calibri"/>
              </a:rPr>
              <a:t>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545775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RECS Energy Intelligence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95728"/>
            <a:ext cx="1054577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DDE4D7"/>
                </a:solidFill>
                <a:latin typeface="Calibri"/>
              </a:rPr>
              <a:t>Residential Electricity Demand Prediction &amp; What-If Retrofit Simulator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108960"/>
            <a:ext cx="2286000" cy="2743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1054577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Tirth   •   Nirmit   •   Divy   •   Ayush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574744"/>
            <a:ext cx="932688" cy="820216"/>
          </a:xfrm>
          <a:prstGeom prst="roundRect">
            <a:avLst>
              <a:gd name="adj" fmla="val 25000"/>
            </a:avLst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45896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DE4D7"/>
                </a:solidFill>
                <a:latin typeface="Calibri"/>
              </a:rPr>
              <a:t>Detached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832" y="4711446"/>
            <a:ext cx="932688" cy="683514"/>
          </a:xfrm>
          <a:prstGeom prst="roundRect">
            <a:avLst>
              <a:gd name="adj" fmla="val 25000"/>
            </a:avLst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4832" y="545896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DE4D7"/>
                </a:solidFill>
                <a:latin typeface="Calibri"/>
              </a:rPr>
              <a:t>Attached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4848149"/>
            <a:ext cx="932688" cy="546811"/>
          </a:xfrm>
          <a:prstGeom prst="roundRect">
            <a:avLst>
              <a:gd name="adj" fmla="val 25000"/>
            </a:avLst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46704" y="545896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DE4D7"/>
                </a:solidFill>
                <a:latin typeface="Calibri"/>
              </a:rPr>
              <a:t>Apartment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576" y="4921759"/>
            <a:ext cx="932688" cy="473201"/>
          </a:xfrm>
          <a:prstGeom prst="roundRect">
            <a:avLst>
              <a:gd name="adj" fmla="val 25000"/>
            </a:avLst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8576" y="545896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DE4D7"/>
                </a:solidFill>
                <a:latin typeface="Calibri"/>
              </a:rPr>
              <a:t>Mobile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70448" y="4995368"/>
            <a:ext cx="932688" cy="399592"/>
          </a:xfrm>
          <a:prstGeom prst="roundRect">
            <a:avLst>
              <a:gd name="adj" fmla="val 25000"/>
            </a:avLst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0448" y="5458968"/>
            <a:ext cx="9326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DDE4D7"/>
                </a:solidFill>
                <a:latin typeface="Calibri"/>
              </a:rPr>
              <a:t>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26364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55951"/>
                </a:solidFill>
                <a:latin typeface="Calibri"/>
              </a:rPr>
              <a:t>Academic 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What This Project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800600"/>
          </a:xfrm>
          <a:prstGeom prst="roundRect">
            <a:avLst>
              <a:gd name="adj" fmla="val 5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The System in One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Predicts annual residential electricity consumption (kWh) and utility cost in Indian Rupees (₹).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Trained on 39,833 U.S. household records across 4 EIA RECS survey cycles (2005, 2009, 2015, 2020).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Tuned XGBoost model evaluated on held-out 2020 cycle — zero data leakage across survey waves.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Live “What-If” retrofit simulator with sliders for appliances, LED adoption, thermostat settings.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SHAP explainability ranks the top factors driving electricity demand per household.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Data harmonization crosswalk maps 17 core features across 15 years of survey instruments.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73152" cy="1051560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65392" y="153619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92B28"/>
                </a:solidFill>
                <a:latin typeface="Calibri"/>
              </a:rPr>
              <a:t>⚡ Energy Predictor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89280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55951"/>
                </a:solidFill>
                <a:latin typeface="Calibri"/>
              </a:rPr>
              <a:t>Dwelling questionnaire → forecast kWh &amp; bill (₹).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578608"/>
            <a:ext cx="5349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2578608"/>
            <a:ext cx="73152" cy="1051560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6974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92B28"/>
                </a:solidFill>
                <a:latin typeface="Calibri"/>
              </a:rPr>
              <a:t>🎛️ What-If Simulator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054096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55951"/>
                </a:solidFill>
                <a:latin typeface="Calibri"/>
              </a:rPr>
              <a:t>Real-time sliders → instant savings delta in 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39896"/>
            <a:ext cx="5349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3739896"/>
            <a:ext cx="73152" cy="1051560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38587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92B28"/>
                </a:solidFill>
                <a:latin typeface="Calibri"/>
              </a:rPr>
              <a:t>📊 Model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21538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55951"/>
                </a:solidFill>
                <a:latin typeface="Calibri"/>
              </a:rPr>
              <a:t>MAE / RMSE / R² / MAPE across 4 architectures.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901184"/>
            <a:ext cx="534924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55080" y="4901184"/>
            <a:ext cx="73152" cy="1051560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502005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92B28"/>
                </a:solidFill>
                <a:latin typeface="Calibri"/>
              </a:rPr>
              <a:t>🔍 SHAP Explainability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537667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55951"/>
                </a:solidFill>
                <a:latin typeface="Calibri"/>
              </a:rPr>
              <a:t>Feature attribution for every prediction.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Why Residential Energy Prediction Matters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800600"/>
          </a:xfrm>
          <a:prstGeom prst="roundRect">
            <a:avLst>
              <a:gd name="adj" fmla="val 5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Households lack visibility into their annual electricity consumption and cost.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Retrofit decisions (LED, appliances, insulation) are made without data-backed savings estimates.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Electricity demand varies widely by home size, occupancy, climate, and appliance mix.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Utilities and planners need aggregate demand forecasts for grid and tariff planning.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Existing tools are generic — not trained on real, harmonized household microdata.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Impact If Solved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03120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2185416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D453B"/>
                </a:solidFill>
                <a:latin typeface="Calibri"/>
              </a:rPr>
              <a:t>800–1,200 kWh/yr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532888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92B28"/>
                </a:solidFill>
                <a:latin typeface="Calibri"/>
              </a:rPr>
              <a:t>saved by retiring a secondary refrigerator (~₹6,400–₹9,600/year).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145535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3227831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D453B"/>
                </a:solidFill>
                <a:latin typeface="Calibri"/>
              </a:rPr>
              <a:t>~28%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575303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92B28"/>
                </a:solidFill>
                <a:latin typeface="Calibri"/>
              </a:rPr>
              <a:t>lower consumption achievable with high-efficiency benchmark home.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4187950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4270246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D453B"/>
                </a:solidFill>
                <a:latin typeface="Calibri"/>
              </a:rPr>
              <a:t>100% 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617718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92B28"/>
                </a:solidFill>
                <a:latin typeface="Calibri"/>
              </a:rPr>
              <a:t>adoption significantly drops continuous baseload draw.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5230365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5312661"/>
            <a:ext cx="4526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3D453B"/>
                </a:solidFill>
                <a:latin typeface="Calibri"/>
              </a:rPr>
              <a:t>±1,729 kWh/yr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660133"/>
            <a:ext cx="4526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292B28"/>
                </a:solidFill>
                <a:latin typeface="Calibri"/>
              </a:rPr>
              <a:t>variation driven by heating fuel type (electric vs gas/oil).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EIA RECS Survey Microdata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6692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records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94960" cy="32121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325880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Dataset at a Glance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5786" y="1828800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8666" y="188366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 dirty="0">
                <a:solidFill>
                  <a:srgbClr val="3D453B"/>
                </a:solidFill>
                <a:latin typeface="Calibri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4586" y="188366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U.S. Energy Information Administration (EIA) RECS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5786" y="2377440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8666" y="243230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4586" y="243230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39,833 households across 4 survey cycles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5786" y="2926080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8666" y="298094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Cycles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4586" y="298094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2005 • 2009 • 2015 • 2020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5786" y="3474720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28666" y="352958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4586" y="352958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21,678 households (2005–2015 cycles)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45786" y="4023360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28666" y="407822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4586" y="407822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18,155 households (held-out 2020 cycle)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45786" y="4572000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28666" y="462686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74586" y="462686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Annual electricity consumption (kWh)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45786" y="5120640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28666" y="517550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Currency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4586" y="517550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Indian Rupees (₹) @ ₹8.00/kWh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45786" y="5669280"/>
            <a:ext cx="489204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8666" y="572414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Features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4586" y="5724144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30 harmonized input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Harmonization → Preprocessing → Modeling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7218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27048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92B28"/>
                </a:solidFill>
                <a:latin typeface="Calibri"/>
              </a:rPr>
              <a:t>Load &amp; Harmonize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92808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Standardize 17 core features across 4 survey years; map missing codes (−2, −8, −9, −99) to NaN.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4173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79392" y="14173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9392" y="147218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527048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92B28"/>
                </a:solidFill>
                <a:latin typeface="Calibri"/>
              </a:rPr>
              <a:t>Preprocess &amp; 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1892808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1st–99th percentile outlier trimming; categorical label encoding fitted on train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1417320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55864" y="14173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55864" y="147218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504" y="1527048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92B28"/>
                </a:solidFill>
                <a:latin typeface="Calibri"/>
              </a:rPr>
              <a:t>Feature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1892808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sqft/person, rooms/person, LED ratio, HDD×heat, CDD×region interactions.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10128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920" y="33101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3649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419856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92B28"/>
                </a:solidFill>
                <a:latin typeface="Calibri"/>
              </a:rPr>
              <a:t>Time-Aware 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85616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Train: 2005–2015  |  Test: held-out 2020 cycle — zero leakage.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3310128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279392" y="33101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9392" y="33649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8032" y="3419856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92B28"/>
                </a:solidFill>
                <a:latin typeface="Calibri"/>
              </a:rPr>
              <a:t>Tune &amp; Train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3785616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XGBoost with RandomizedSearchCV (20 iters × 3-fold CV).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55864" y="3310128"/>
            <a:ext cx="36118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055864" y="331012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55864" y="33649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4504" y="3419856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92B28"/>
                </a:solidFill>
                <a:latin typeface="Calibri"/>
              </a:rPr>
              <a:t>Explain &amp; Deploy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04504" y="3785616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SHAP attribution + FastAPI backend + academic dashboard UI.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30 Harmonized Input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71323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92B28"/>
                </a:solidFill>
                <a:latin typeface="Calibri"/>
              </a:rPr>
              <a:t>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50876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Rooms • Bedrooms • Sqft • Housing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03704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203704"/>
            <a:ext cx="73152" cy="713232"/>
          </a:xfrm>
          <a:prstGeom prst="rect">
            <a:avLst/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295144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92B28"/>
                </a:solidFill>
                <a:latin typeface="Calibri"/>
              </a:rPr>
              <a:t>Occupancy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295144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Occupants • Survey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990088"/>
            <a:ext cx="73152" cy="71323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081528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92B28"/>
                </a:solidFill>
                <a:latin typeface="Calibri"/>
              </a:rPr>
              <a:t>Appliances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081528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Refrigerators • Washer • Dryer • Freezer • AC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776472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3776472"/>
            <a:ext cx="73152" cy="713232"/>
          </a:xfrm>
          <a:prstGeom prst="rect">
            <a:avLst/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86791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92B28"/>
                </a:solidFill>
                <a:latin typeface="Calibri"/>
              </a:rPr>
              <a:t>Lighting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3867912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Total Lights • LED Bulbs • CFL Bulbs • LED Ratio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62856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562856"/>
            <a:ext cx="73152" cy="71323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654296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92B28"/>
                </a:solidFill>
                <a:latin typeface="Calibri"/>
              </a:rPr>
              <a:t>Heating / Cooling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654296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Heat Fuel • Heat Equipment • AC Type • HDD65 • CDD65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49240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5349240"/>
            <a:ext cx="73152" cy="713232"/>
          </a:xfrm>
          <a:prstGeom prst="rect">
            <a:avLst/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544068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92B28"/>
                </a:solidFill>
                <a:latin typeface="Calibri"/>
              </a:rPr>
              <a:t>Climate / Geography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44068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Region • Climate Region • Division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6135624"/>
            <a:ext cx="548640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2920" y="6135624"/>
            <a:ext cx="73152" cy="71323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6227064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292B28"/>
                </a:solidFill>
                <a:latin typeface="Calibri"/>
              </a:rPr>
              <a:t>Engineered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0" y="6227064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sqft/person • rooms/person • LED ratio • HDD×heat • CDD×region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1417320"/>
            <a:ext cx="5349240" cy="4800600"/>
          </a:xfrm>
          <a:prstGeom prst="roundRect">
            <a:avLst>
              <a:gd name="adj" fmla="val 5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16459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Target Variable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2103120"/>
            <a:ext cx="489204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0" y="233172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3D453B"/>
                </a:solidFill>
                <a:latin typeface="Calibri"/>
              </a:rPr>
              <a:t>kWh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92608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 i="0">
                <a:solidFill>
                  <a:srgbClr val="292B28"/>
                </a:solidFill>
                <a:latin typeface="Calibri"/>
              </a:rPr>
              <a:t>Annual Electricity Consumption (kWh)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657600"/>
            <a:ext cx="489204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Derived from: </a:t>
            </a:r>
            <a:r>
              <a:rPr sz="1150" b="0" i="0">
                <a:solidFill>
                  <a:srgbClr val="292B28"/>
                </a:solidFill>
                <a:latin typeface="Calibri"/>
              </a:rPr>
              <a:t>EIA RECS KWH field across all 4 survey cycles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Converted to cost: </a:t>
            </a:r>
            <a:r>
              <a:rPr sz="1150" b="0" i="0">
                <a:solidFill>
                  <a:srgbClr val="292B28"/>
                </a:solidFill>
                <a:latin typeface="Calibri"/>
              </a:rPr>
              <a:t>kWh × ₹8.00 domestic tariff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Outlier-trimmed: </a:t>
            </a:r>
            <a:r>
              <a:rPr sz="1150" b="0" i="0">
                <a:solidFill>
                  <a:srgbClr val="292B28"/>
                </a:solidFill>
                <a:latin typeface="Calibri"/>
              </a:rPr>
              <a:t>1st–99th percentile bounds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MODEL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Tuned XGBoost — Champion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800600"/>
          </a:xfrm>
          <a:prstGeom prst="roundRect">
            <a:avLst>
              <a:gd name="adj" fmla="val 5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Why XGBoost?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Gradient-boosted decision trees — captures non-linear appliance × climate interactions.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Handles mixed categorical + numeric features natively after label encoding.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Tree-based structure is fully SHAP-explainable — every prediction attributable.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Hist-based tree method with n_jobs=-1 — fast training on 21,678 households.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Hyperparameter-tuned via RandomizedSearchCV (20 iterations × 3-fold CV).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Tuned Hyperparameters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03120"/>
            <a:ext cx="489204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214884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n_estimators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14884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300 / 500 / 700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578608"/>
            <a:ext cx="4892040" cy="402336"/>
          </a:xfrm>
          <a:prstGeom prst="roundRect">
            <a:avLst>
              <a:gd name="adj" fmla="val 6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262432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max_depth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62432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4 / 6 /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3054096"/>
            <a:ext cx="489204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309981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learning_rate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3099816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0.03 / 0.05 / 0.1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3529584"/>
            <a:ext cx="4892040" cy="402336"/>
          </a:xfrm>
          <a:prstGeom prst="roundRect">
            <a:avLst>
              <a:gd name="adj" fmla="val 6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357530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subsample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575304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0.7 / 0.85 / 1.0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005072"/>
            <a:ext cx="489204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405079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colsample_bytree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050792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0.7 / 0.85 / 1.0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480560"/>
            <a:ext cx="4892040" cy="402336"/>
          </a:xfrm>
          <a:prstGeom prst="roundRect">
            <a:avLst>
              <a:gd name="adj" fmla="val 6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4526280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min_child_weight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452628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1 / 3 / 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4956048"/>
            <a:ext cx="489204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12280" y="500176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reg_alpha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500176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0 / 0.1 /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5431536"/>
            <a:ext cx="4892040" cy="402336"/>
          </a:xfrm>
          <a:prstGeom prst="roundRect">
            <a:avLst>
              <a:gd name="adj" fmla="val 6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812280" y="5477256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tree_method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5477256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hist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29400" y="5907024"/>
            <a:ext cx="489204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12280" y="5952744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3D453B"/>
                </a:solidFill>
                <a:latin typeface="Calibri"/>
              </a:rPr>
              <a:t>objective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952744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292B28"/>
                </a:solidFill>
                <a:latin typeface="Calibri"/>
              </a:rPr>
              <a:t>reg:squarederror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XGBoost Wins — Here's Why the Others Lost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76072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388795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37960" y="1325880"/>
            <a:ext cx="5166360" cy="4892040"/>
          </a:xfrm>
          <a:prstGeom prst="roundRect">
            <a:avLst>
              <a:gd name="adj" fmla="val 5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12280" y="15544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92B28"/>
                </a:solidFill>
                <a:latin typeface="Calibri"/>
              </a:rPr>
              <a:t>Why Other Models Were Rejected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2057400"/>
            <a:ext cx="461772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95160" y="2139696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3D453B"/>
                </a:solidFill>
                <a:latin typeface="Calibri"/>
              </a:rPr>
              <a:t>Baseline (mean)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496312"/>
            <a:ext cx="425196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292B28"/>
                </a:solidFill>
                <a:latin typeface="Calibri"/>
              </a:rPr>
              <a:t>R² ≈ −0.003 — no better than guessing the average. MAPE 73.3%.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3474720"/>
            <a:ext cx="461772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3557016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3D453B"/>
                </a:solidFill>
                <a:latin typeface="Calibri"/>
              </a:rPr>
              <a:t>Ridge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913632"/>
            <a:ext cx="425196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292B28"/>
                </a:solidFill>
                <a:latin typeface="Calibri"/>
              </a:rPr>
              <a:t>R² = −1.307 — worse than baseline; linear assumption can't capture appliance×climate non-linearities.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4892040"/>
            <a:ext cx="461772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4974336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3D453B"/>
                </a:solidFill>
                <a:latin typeface="Calibri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5330952"/>
            <a:ext cx="4251960" cy="804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292B28"/>
                </a:solidFill>
                <a:latin typeface="Calibri"/>
              </a:rPr>
              <a:t>R² = 0.446 — strong, but 3.2% higher MAE and 5% higher MAPE than XGBoost.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Benchmark Performance on Held-Out 2020 Test Cycle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201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36576" marB="36576" anchor="ctr">
                    <a:solidFill>
                      <a:srgbClr val="3D45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MAE (kWh)</a:t>
                      </a:r>
                    </a:p>
                  </a:txBody>
                  <a:tcPr marL="73152" marR="73152" marT="36576" marB="36576" anchor="ctr">
                    <a:solidFill>
                      <a:srgbClr val="3D45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RMSE (kWh)</a:t>
                      </a:r>
                    </a:p>
                  </a:txBody>
                  <a:tcPr marL="73152" marR="73152" marT="36576" marB="36576" anchor="ctr">
                    <a:solidFill>
                      <a:srgbClr val="3D45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R² Score</a:t>
                      </a:r>
                    </a:p>
                  </a:txBody>
                  <a:tcPr marL="73152" marR="73152" marT="36576" marB="36576" anchor="ctr">
                    <a:solidFill>
                      <a:srgbClr val="3D45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MAPE (%)</a:t>
                      </a:r>
                    </a:p>
                  </a:txBody>
                  <a:tcPr marL="73152" marR="73152" marT="36576" marB="36576" anchor="ctr">
                    <a:solidFill>
                      <a:srgbClr val="3D45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36576" marB="36576" anchor="ctr">
                    <a:solidFill>
                      <a:srgbClr val="3D4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Baseline (mean)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4,950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6,223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−0.003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73.3%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Ridge Regression</a:t>
                      </a:r>
                    </a:p>
                  </a:txBody>
                  <a:tcPr marL="73152" marR="73152" marT="36576" marB="36576" anchor="ctr">
                    <a:solidFill>
                      <a:srgbClr val="DDE4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6,888</a:t>
                      </a:r>
                    </a:p>
                  </a:txBody>
                  <a:tcPr marL="73152" marR="73152" marT="36576" marB="36576" anchor="ctr">
                    <a:solidFill>
                      <a:srgbClr val="DDE4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9,441</a:t>
                      </a:r>
                    </a:p>
                  </a:txBody>
                  <a:tcPr marL="73152" marR="73152" marT="36576" marB="36576" anchor="ctr">
                    <a:solidFill>
                      <a:srgbClr val="DDE4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−1.307</a:t>
                      </a:r>
                    </a:p>
                  </a:txBody>
                  <a:tcPr marL="73152" marR="73152" marT="36576" marB="36576" anchor="ctr">
                    <a:solidFill>
                      <a:srgbClr val="DDE4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72.2%</a:t>
                      </a:r>
                    </a:p>
                  </a:txBody>
                  <a:tcPr marL="73152" marR="73152" marT="36576" marB="36576" anchor="ctr">
                    <a:solidFill>
                      <a:srgbClr val="DDE4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Linear Baseline</a:t>
                      </a:r>
                    </a:p>
                  </a:txBody>
                  <a:tcPr marL="73152" marR="73152" marT="36576" marB="36576" anchor="ctr">
                    <a:solidFill>
                      <a:srgbClr val="DDE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3,425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4,627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0.446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42.2%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92B28"/>
                          </a:solidFill>
                          <a:latin typeface="Calibri"/>
                        </a:rPr>
                        <a:t>Non-linear Ensemble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B28"/>
                          </a:solidFill>
                          <a:latin typeface="Calibri"/>
                        </a:rPr>
                        <a:t>XGBoost (tuned)</a:t>
                      </a:r>
                    </a:p>
                  </a:txBody>
                  <a:tcPr marL="73152" marR="73152" marT="36576" marB="36576" anchor="ctr">
                    <a:solidFill>
                      <a:srgbClr val="8796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B28"/>
                          </a:solidFill>
                          <a:latin typeface="Calibri"/>
                        </a:rPr>
                        <a:t>3,363</a:t>
                      </a:r>
                    </a:p>
                  </a:txBody>
                  <a:tcPr marL="73152" marR="73152" marT="36576" marB="36576" anchor="ctr">
                    <a:solidFill>
                      <a:srgbClr val="8796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B28"/>
                          </a:solidFill>
                          <a:latin typeface="Calibri"/>
                        </a:rPr>
                        <a:t>4,535</a:t>
                      </a:r>
                    </a:p>
                  </a:txBody>
                  <a:tcPr marL="73152" marR="73152" marT="36576" marB="36576" anchor="ctr">
                    <a:solidFill>
                      <a:srgbClr val="8796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B28"/>
                          </a:solidFill>
                          <a:latin typeface="Calibri"/>
                        </a:rPr>
                        <a:t>0.468</a:t>
                      </a:r>
                    </a:p>
                  </a:txBody>
                  <a:tcPr marL="73152" marR="73152" marT="36576" marB="36576" anchor="ctr">
                    <a:solidFill>
                      <a:srgbClr val="8796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B28"/>
                          </a:solidFill>
                          <a:latin typeface="Calibri"/>
                        </a:rPr>
                        <a:t>41.7%</a:t>
                      </a:r>
                    </a:p>
                  </a:txBody>
                  <a:tcPr marL="73152" marR="73152" marT="36576" marB="36576" anchor="ctr">
                    <a:solidFill>
                      <a:srgbClr val="87968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92B28"/>
                          </a:solidFill>
                          <a:latin typeface="Calibri"/>
                        </a:rPr>
                        <a:t>Champion</a:t>
                      </a:r>
                    </a:p>
                  </a:txBody>
                  <a:tcPr marL="73152" marR="73152" marT="36576" marB="36576" anchor="ctr">
                    <a:solidFill>
                      <a:srgbClr val="8796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023360"/>
            <a:ext cx="11201400" cy="2103120"/>
          </a:xfrm>
          <a:prstGeom prst="roundRect">
            <a:avLst>
              <a:gd name="adj" fmla="val 8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18795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92B28"/>
                </a:solidFill>
                <a:latin typeface="Calibri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177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3D453B"/>
                </a:solidFill>
                <a:latin typeface="Calibri"/>
              </a:rPr>
              <a:t>▪ </a:t>
            </a:r>
            <a:r>
              <a:rPr sz="1150">
                <a:solidFill>
                  <a:srgbClr val="292B28"/>
                </a:solidFill>
                <a:latin typeface="Calibri"/>
              </a:rPr>
              <a:t>XGBoost reduces MAE by 32% vs baseline and 2% vs Random Forest — best overall accuracy.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3D453B"/>
                </a:solidFill>
                <a:latin typeface="Calibri"/>
              </a:rPr>
              <a:t>▪ </a:t>
            </a:r>
            <a:r>
              <a:rPr sz="1150">
                <a:solidFill>
                  <a:srgbClr val="292B28"/>
                </a:solidFill>
                <a:latin typeface="Calibri"/>
              </a:rPr>
              <a:t>R² = 0.468 means the model explains ~47% of variance in annual household electricity demand.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1">
                <a:solidFill>
                  <a:srgbClr val="3D453B"/>
                </a:solidFill>
                <a:latin typeface="Calibri"/>
              </a:rPr>
              <a:t>▪ </a:t>
            </a:r>
            <a:r>
              <a:rPr sz="1150">
                <a:solidFill>
                  <a:srgbClr val="292B28"/>
                </a:solidFill>
                <a:latin typeface="Calibri"/>
              </a:rPr>
              <a:t>Time-aware validation (2020 held-out) guarantees no data leakage across survey waves.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SHAP — What Drives Electricity Demand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66928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hap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394960" cy="32143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55080" y="1325880"/>
            <a:ext cx="5349240" cy="4892040"/>
          </a:xfrm>
          <a:prstGeom prst="roundRect">
            <a:avLst>
              <a:gd name="adj" fmla="val 5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5544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Key SHAP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011680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2084832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Heating Fuel (#1)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084832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±1,729 kWh/yr — electric resistance vs gas/oil is the single biggest driver.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2907792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12280" y="2980944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980944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1,274 kWh/yr — census region shapes baseline cooling/heating needs.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803904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12280" y="3877056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Occupants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877056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908 kWh/yr — more people = more appliances, lights, hot water.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4700016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477316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Housing 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773168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842 kWh/yr — detached homes consume more than apartments.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5596128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5669280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Refrigerators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566928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836 kWh/yr — each additional fridge adds ~800–1,200 kWh/yr.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WHAT-IF SIMULATOR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Live Retrofit &amp; Appliance Simulation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800600"/>
          </a:xfrm>
          <a:prstGeom prst="roundRect">
            <a:avLst>
              <a:gd name="adj" fmla="val 5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Sliders adjust refrigerator count, LED adoption %, occupancy, AC thermostat intensity.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Toggles for washer, dryer, freezer, AC, electric space heat.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Instant re-prediction via /api/whatif endpoint — savings delta in ₹ shown live.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Comparison bar chart: your forecast vs national / regional / high-efficiency benchmarks.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453B"/>
                </a:solidFill>
                <a:latin typeface="Calibri"/>
              </a:rPr>
              <a:t>▪ </a:t>
            </a:r>
            <a:r>
              <a:rPr sz="1250">
                <a:solidFill>
                  <a:srgbClr val="292B28"/>
                </a:solidFill>
                <a:latin typeface="Calibri"/>
              </a:rPr>
              <a:t>Built on FastAPI + XGBoost with real-time SHAP driver attribution.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Example Savings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03120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2103120"/>
            <a:ext cx="73152" cy="932688"/>
          </a:xfrm>
          <a:prstGeom prst="rect">
            <a:avLst/>
          </a:prstGeom>
          <a:solidFill>
            <a:srgbClr val="3D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217627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92B28"/>
                </a:solidFill>
                <a:latin typeface="Calibri"/>
              </a:rPr>
              <a:t>Retire 2nd fridge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50545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−800 to −1,200 kWh/yr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2505456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D453B"/>
                </a:solidFill>
                <a:latin typeface="Calibri"/>
              </a:rPr>
              <a:t>≈ −₹6,400 to −₹9,600/yr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3145535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629400" y="3145535"/>
            <a:ext cx="73152" cy="932688"/>
          </a:xfrm>
          <a:prstGeom prst="rect">
            <a:avLst/>
          </a:prstGeom>
          <a:solidFill>
            <a:srgbClr val="3D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3218687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92B28"/>
                </a:solidFill>
                <a:latin typeface="Calibri"/>
              </a:rPr>
              <a:t>100% LED lighting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547871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Drop baseload draw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547871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D453B"/>
                </a:solidFill>
                <a:latin typeface="Calibri"/>
              </a:rPr>
              <a:t>Measurable annual savings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4187950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29400" y="4187950"/>
            <a:ext cx="73152" cy="932688"/>
          </a:xfrm>
          <a:prstGeom prst="rect">
            <a:avLst/>
          </a:prstGeom>
          <a:solidFill>
            <a:srgbClr val="3D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12280" y="426110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92B28"/>
                </a:solidFill>
                <a:latin typeface="Calibri"/>
              </a:rPr>
              <a:t>Eco AC thermostat (−15%)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59028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Lower summer CDD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590286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D453B"/>
                </a:solidFill>
                <a:latin typeface="Calibri"/>
              </a:rPr>
              <a:t>Reduced cooling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5230365"/>
            <a:ext cx="4892040" cy="932688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629400" y="5230365"/>
            <a:ext cx="73152" cy="932688"/>
          </a:xfrm>
          <a:prstGeom prst="rect">
            <a:avLst/>
          </a:prstGeom>
          <a:solidFill>
            <a:srgbClr val="3D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5303517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292B28"/>
                </a:solidFill>
                <a:latin typeface="Calibri"/>
              </a:rPr>
              <a:t>Gas vs electric heat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632701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555951"/>
                </a:solidFill>
                <a:latin typeface="Calibri"/>
              </a:rPr>
              <a:t>Up to 3× difference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5632701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3D453B"/>
                </a:solidFill>
                <a:latin typeface="Calibri"/>
              </a:rPr>
              <a:t>Cold-climate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USEFULNESS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Real-World Applications &amp; Benefits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1115568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9525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1115568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2704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92B28"/>
                </a:solidFill>
                <a:latin typeface="Calibri"/>
              </a:rPr>
              <a:t>Homeowners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55951"/>
                </a:solidFill>
                <a:latin typeface="Calibri"/>
              </a:rPr>
              <a:t>Know your expected annual kWh and bill (₹) before moving in or retrofitting.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486400" cy="1115568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9525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80" y="1417320"/>
            <a:ext cx="73152" cy="1115568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2704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92B28"/>
                </a:solidFill>
                <a:latin typeface="Calibri"/>
              </a:rPr>
              <a:t>Retrofit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55951"/>
                </a:solidFill>
                <a:latin typeface="Calibri"/>
              </a:rPr>
              <a:t>Test LED, appliance, and thermostat changes — see savings before spending.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33472"/>
            <a:ext cx="5486400" cy="1115568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9525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2633472"/>
            <a:ext cx="73152" cy="1115568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92B28"/>
                </a:solidFill>
                <a:latin typeface="Calibri"/>
              </a:rPr>
              <a:t>Utilities &amp; Planners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36392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55951"/>
                </a:solidFill>
                <a:latin typeface="Calibri"/>
              </a:rPr>
              <a:t>Aggregate demand forecasts for grid capacity and tariff design.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633472"/>
            <a:ext cx="5486400" cy="1115568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9525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633472"/>
            <a:ext cx="73152" cy="1115568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92B28"/>
                </a:solidFill>
                <a:latin typeface="Calibri"/>
              </a:rPr>
              <a:t>Energy Auditors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36392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55951"/>
                </a:solidFill>
                <a:latin typeface="Calibri"/>
              </a:rPr>
              <a:t>SHAP drivers pinpoint where efficiency upgrades will have the most impact.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9624"/>
            <a:ext cx="5486400" cy="1115568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9525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849624"/>
            <a:ext cx="73152" cy="1115568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395935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92B28"/>
                </a:solidFill>
                <a:latin typeface="Calibri"/>
              </a:rPr>
              <a:t>Policy Makers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52544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55951"/>
                </a:solidFill>
                <a:latin typeface="Calibri"/>
              </a:rPr>
              <a:t>Evidence for efficiency standards, appliance rebates, and building codes.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849624"/>
            <a:ext cx="5486400" cy="1115568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9525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80" y="3849624"/>
            <a:ext cx="73152" cy="1115568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3959352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92B28"/>
                </a:solidFill>
                <a:latin typeface="Calibri"/>
              </a:rPr>
              <a:t>Researchers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52544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555951"/>
                </a:solidFill>
                <a:latin typeface="Calibri"/>
              </a:rPr>
              <a:t>Open harmonization crosswalk across 15 years of EIA RECS instruments.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796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879681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292B28"/>
                </a:solidFill>
                <a:latin typeface="Calibri"/>
              </a:rPr>
              <a:t>Methodological Notes &amp;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800600"/>
          </a:xfrm>
          <a:prstGeom prst="roundRect">
            <a:avLst>
              <a:gd name="adj" fmla="val 5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Known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453B"/>
                </a:solidFill>
                <a:latin typeface="Calibri"/>
              </a:rPr>
              <a:t>▪ </a:t>
            </a:r>
            <a:r>
              <a:rPr sz="1200">
                <a:solidFill>
                  <a:srgbClr val="292B28"/>
                </a:solidFill>
                <a:latin typeface="Calibri"/>
              </a:rPr>
              <a:t>Non-panel cross-sectional data — RECS surveys independent samples, not the same households over time.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453B"/>
                </a:solidFill>
                <a:latin typeface="Calibri"/>
              </a:rPr>
              <a:t>▪ </a:t>
            </a:r>
            <a:r>
              <a:rPr sz="1200">
                <a:solidFill>
                  <a:srgbClr val="292B28"/>
                </a:solidFill>
                <a:latin typeface="Calibri"/>
              </a:rPr>
              <a:t>survey_year captures structural shifts (efficiency standards, LED adoption), not time-series trends.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453B"/>
                </a:solidFill>
                <a:latin typeface="Calibri"/>
              </a:rPr>
              <a:t>▪ </a:t>
            </a:r>
            <a:r>
              <a:rPr sz="1200">
                <a:solidFill>
                  <a:srgbClr val="292B28"/>
                </a:solidFill>
                <a:latin typeface="Calibri"/>
              </a:rPr>
              <a:t>Missing codes (−2, −8, −9, −99) mapped to NaN and median-imputed — may introduce bias.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453B"/>
                </a:solidFill>
                <a:latin typeface="Calibri"/>
              </a:rPr>
              <a:t>▪ </a:t>
            </a:r>
            <a:r>
              <a:rPr sz="1200">
                <a:solidFill>
                  <a:srgbClr val="292B28"/>
                </a:solidFill>
                <a:latin typeface="Calibri"/>
              </a:rPr>
              <a:t>Survey replicate weights (BRRWT1–96) dropped to avoid overfitting on sampling artifacts.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453B"/>
                </a:solidFill>
                <a:latin typeface="Calibri"/>
              </a:rPr>
              <a:t>▪ </a:t>
            </a:r>
            <a:r>
              <a:rPr sz="1200">
                <a:solidFill>
                  <a:srgbClr val="292B28"/>
                </a:solidFill>
                <a:latin typeface="Calibri"/>
              </a:rPr>
              <a:t>R² = 0.468 — model explains ~47% of variance; 53% remains unexplained.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453B"/>
                </a:solidFill>
                <a:latin typeface="Calibri"/>
              </a:rPr>
              <a:t>▪ </a:t>
            </a:r>
            <a:r>
              <a:rPr sz="1200">
                <a:solidFill>
                  <a:srgbClr val="292B28"/>
                </a:solidFill>
                <a:latin typeface="Calibri"/>
              </a:rPr>
              <a:t>Trained on U.S. microdata; cost converted to ₹ using flat ₹8.00/kWh tariff.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5349240" cy="480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4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164592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92B28"/>
                </a:solidFill>
                <a:latin typeface="Calibri"/>
              </a:rPr>
              <a:t>Mitigation Strategy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103120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217627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Hold out full 2020 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176272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Zero leakage across survey waves.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999232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3072384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1st–99th percentile trim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072384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Removes erroneous consumption extremes.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3895344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12280" y="3968496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Label encoders fit on train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968496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No target or category leakage.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4791456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4864608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SHAP explainability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864608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Transparent per-prediction attribution.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5687568"/>
            <a:ext cx="4892040" cy="804672"/>
          </a:xfrm>
          <a:prstGeom prst="roundRect">
            <a:avLst>
              <a:gd name="adj" fmla="val 12000"/>
            </a:avLst>
          </a:prstGeom>
          <a:solidFill>
            <a:srgbClr val="DDE4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576072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Harmonization crosswalk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760720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17 features mapped across 15 years.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836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RECS Energy Intelligence Studio  •  Machine Learning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8735" y="6583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555951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4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D453B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4577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292B28"/>
                </a:solidFill>
                <a:latin typeface="Calibri"/>
              </a:rPr>
              <a:t>RECS Energy Intelligence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55951"/>
                </a:solidFill>
                <a:latin typeface="Calibri"/>
              </a:rPr>
              <a:t>Predicts residential electricity demand with tuned XGBoost — and shows how to cut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1591056" cy="1325880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12700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355848"/>
            <a:ext cx="1591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D453B"/>
                </a:solidFill>
                <a:latin typeface="Calibri"/>
              </a:rPr>
              <a:t>39,833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04488"/>
            <a:ext cx="15910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households, 4 RECS cycles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96896" y="3246120"/>
            <a:ext cx="1591056" cy="1325880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12700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96896" y="3355848"/>
            <a:ext cx="1591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D453B"/>
                </a:solidFill>
                <a:latin typeface="Calibri"/>
              </a:rPr>
              <a:t>0.468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3904488"/>
            <a:ext cx="15910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R² — champion XGBoost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246120"/>
            <a:ext cx="1591056" cy="1325880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12700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70832" y="3355848"/>
            <a:ext cx="1591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3D453B"/>
                </a:solidFill>
                <a:latin typeface="Calibri"/>
              </a:rPr>
              <a:t>41.7%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3904488"/>
            <a:ext cx="15910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MAPE — best-in-class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246120"/>
            <a:ext cx="1591056" cy="1325880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12700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44768" y="3355848"/>
            <a:ext cx="1591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D453B"/>
                </a:solidFill>
                <a:latin typeface="Calibri"/>
              </a:rPr>
              <a:t>SHAP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3904488"/>
            <a:ext cx="15910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explainable per-prediction drivers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18704" y="3246120"/>
            <a:ext cx="1591056" cy="1325880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12700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18704" y="3355848"/>
            <a:ext cx="1591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3D453B"/>
                </a:solidFill>
                <a:latin typeface="Calibri"/>
              </a:rPr>
              <a:t>₹8.00/kWh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3904488"/>
            <a:ext cx="15910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cost in Indian Rupees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3246120"/>
            <a:ext cx="1591056" cy="1325880"/>
          </a:xfrm>
          <a:prstGeom prst="roundRect">
            <a:avLst>
              <a:gd name="adj" fmla="val 10000"/>
            </a:avLst>
          </a:prstGeom>
          <a:solidFill>
            <a:srgbClr val="DDE4D7"/>
          </a:solidFill>
          <a:ln w="12700">
            <a:solidFill>
              <a:srgbClr val="8796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92640" y="3355848"/>
            <a:ext cx="15910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D453B"/>
                </a:solidFill>
                <a:latin typeface="Calibri"/>
              </a:rPr>
              <a:t>Live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904488"/>
            <a:ext cx="159105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292B28"/>
                </a:solidFill>
                <a:latin typeface="Calibri"/>
              </a:rPr>
              <a:t>what-if retrofit simulator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9834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555951"/>
                </a:solidFill>
                <a:latin typeface="Calibri"/>
              </a:rPr>
              <a:t>Next steps: regional tariff integration • appliance-level modeling • deployment at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79681"/>
                </a:solidFill>
                <a:latin typeface="Calibri"/>
              </a:rPr>
              <a:t>Thank you — RECS Energy Intelligence Studio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1673</Words>
  <Application>Microsoft Office PowerPoint</Application>
  <PresentationFormat>Widescreen</PresentationFormat>
  <Paragraphs>286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tirthpatel1366@gmail.com</cp:lastModifiedBy>
  <cp:revision>2</cp:revision>
  <dcterms:created xsi:type="dcterms:W3CDTF">2013-01-27T09:14:16Z</dcterms:created>
  <dcterms:modified xsi:type="dcterms:W3CDTF">2026-10-21T03:33:57Z</dcterms:modified>
  <cp:category/>
</cp:coreProperties>
</file>